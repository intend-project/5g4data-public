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313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9790" y="79948"/>
            <a:ext cx="13926862" cy="9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285A"/>
                </a:solidFill>
              </a:defRPr>
            </a:pPr>
            <a:r>
              <a:t>Multi-Agent TM Forum Intent, Fulfillment and Observation Simulation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3801" y="1359108"/>
            <a:ext cx="1519003" cy="2198557"/>
          </a:xfrm>
          <a:prstGeom prst="roundRect">
            <a:avLst/>
          </a:prstGeom>
          <a:solidFill>
            <a:srgbClr val="EEF5FC"/>
          </a:solidFill>
          <a:ln w="25400">
            <a:solidFill>
              <a:srgbClr val="507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Simulator script(s)</a:t>
            </a:r>
          </a:p>
        </p:txBody>
      </p:sp>
      <p:sp>
        <p:nvSpPr>
          <p:cNvPr id="4" name="Freeform 3"/>
          <p:cNvSpPr/>
          <p:nvPr/>
        </p:nvSpPr>
        <p:spPr>
          <a:xfrm>
            <a:off x="2286500" y="1087286"/>
            <a:ext cx="8938135" cy="4141283"/>
          </a:xfrm>
          <a:custGeom>
            <a:avLst/>
            <a:gdLst/>
            <a:ahLst/>
            <a:cxnLst/>
            <a:rect l="l" t="t" r="r" b="b"/>
            <a:pathLst>
              <a:path w="8938135" h="4141283">
                <a:moveTo>
                  <a:pt x="0" y="0"/>
                </a:moveTo>
                <a:lnTo>
                  <a:pt x="8938135" y="0"/>
                </a:lnTo>
                <a:lnTo>
                  <a:pt x="8938135" y="3885451"/>
                </a:lnTo>
                <a:lnTo>
                  <a:pt x="4413104" y="3885451"/>
                </a:lnTo>
                <a:lnTo>
                  <a:pt x="4413104" y="4141283"/>
                </a:lnTo>
                <a:lnTo>
                  <a:pt x="0" y="4141283"/>
                </a:lnTo>
                <a:close/>
              </a:path>
            </a:pathLst>
          </a:custGeom>
          <a:solidFill>
            <a:srgbClr val="E1F0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98426" y="1359108"/>
            <a:ext cx="2318479" cy="1039318"/>
          </a:xfrm>
          <a:prstGeom prst="roundRect">
            <a:avLst/>
          </a:prstGeom>
          <a:solidFill>
            <a:srgbClr val="EBF4FF"/>
          </a:solidFill>
          <a:ln w="25400"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User natural language</a:t>
            </a:r>
            <a:br/>
            <a:r>
              <a:t>dialogue</a:t>
            </a:r>
            <a:br/>
            <a:r>
              <a:t>(Define user goal(s))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98426" y="2518347"/>
            <a:ext cx="2318479" cy="1039318"/>
          </a:xfrm>
          <a:prstGeom prst="roundRect">
            <a:avLst/>
          </a:prstGeom>
          <a:solidFill>
            <a:srgbClr val="EBF4FF"/>
          </a:solidFill>
          <a:ln w="25400">
            <a:solidFill>
              <a:srgbClr val="5A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Operator natural language</a:t>
            </a:r>
            <a:br/>
            <a:r>
              <a:t>dialogue</a:t>
            </a:r>
            <a:br/>
            <a:r>
              <a:t>(Define simulator</a:t>
            </a:r>
            <a:br/>
            <a:r>
              <a:t>behavior(s))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56485" y="1199213"/>
            <a:ext cx="5756223" cy="1439056"/>
          </a:xfrm>
          <a:prstGeom prst="roundRect">
            <a:avLst/>
          </a:prstGeom>
          <a:solidFill>
            <a:srgbClr val="E6F5EB"/>
          </a:solidFill>
          <a:ln w="25400">
            <a:solidFill>
              <a:srgbClr val="5AA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Main reasoning Agent + Skill(s) + API</a:t>
            </a:r>
            <a:br/>
            <a:r>
              <a:t>- Orchestration</a:t>
            </a:r>
            <a:br/>
            <a:r>
              <a:t>- TM Forum intent authoring skill</a:t>
            </a:r>
            <a:br/>
            <a:r>
              <a:t>- follow-up dialogue</a:t>
            </a:r>
            <a:br/>
            <a:r>
              <a:t>- tool orchestration</a:t>
            </a:r>
            <a:br/>
            <a:r>
              <a:t>- report reasoning explanation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52289" y="1359108"/>
            <a:ext cx="2278504" cy="1039318"/>
          </a:xfrm>
          <a:prstGeom prst="roundRect">
            <a:avLst/>
          </a:prstGeom>
          <a:solidFill>
            <a:srgbClr val="FFF5E4"/>
          </a:solidFill>
          <a:ln w="25400">
            <a:solidFill>
              <a:srgbClr val="CD9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inCoord/inSustain/inExplain action(s)</a:t>
            </a:r>
            <a:br/>
            <a:r>
              <a:t>(Issue or change Intent(s))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8426" y="3837482"/>
            <a:ext cx="2318479" cy="1279160"/>
          </a:xfrm>
          <a:prstGeom prst="roundRect">
            <a:avLst/>
          </a:prstGeom>
          <a:solidFill>
            <a:srgbClr val="F5F8FF"/>
          </a:solidFill>
          <a:ln w="25400">
            <a:solidFill>
              <a:srgbClr val="6E8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TM Forum Ontology</a:t>
            </a:r>
            <a:br/>
            <a:r>
              <a:t>Intent / report templates</a:t>
            </a:r>
            <a:br/>
            <a:r>
              <a:t>Validation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15856" y="3517692"/>
            <a:ext cx="1598951" cy="1279160"/>
          </a:xfrm>
          <a:prstGeom prst="roundRect">
            <a:avLst/>
          </a:prstGeom>
          <a:solidFill>
            <a:srgbClr val="F5F8FF"/>
          </a:solidFill>
          <a:ln w="25400">
            <a:solidFill>
              <a:srgbClr val="6E8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Workload Catalogue</a:t>
            </a:r>
            <a:br/>
            <a:r>
              <a:t>ChartMuseum API</a:t>
            </a:r>
            <a:br/>
            <a:r>
              <a:t>Mock Helm charts</a:t>
            </a:r>
            <a:br/>
            <a:r>
              <a:t>values.yaml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54387" y="3517692"/>
            <a:ext cx="1598951" cy="1279160"/>
          </a:xfrm>
          <a:prstGeom prst="roundRect">
            <a:avLst/>
          </a:prstGeom>
          <a:solidFill>
            <a:srgbClr val="F5F8FF"/>
          </a:solidFill>
          <a:ln w="25400">
            <a:solidFill>
              <a:srgbClr val="6E82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Infrastructure Knowledge Graph</a:t>
            </a:r>
            <a:br/>
            <a:r>
              <a:t>GraphDB + SPARQL</a:t>
            </a:r>
            <a:br/>
            <a:r>
              <a:t>Nearest edge DC lookup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8216" y="6355829"/>
            <a:ext cx="2878112" cy="1279161"/>
          </a:xfrm>
          <a:prstGeom prst="roundRect">
            <a:avLst/>
          </a:prstGeom>
          <a:solidFill>
            <a:srgbClr val="F8EBFF"/>
          </a:solidFill>
          <a:ln w="25400">
            <a:solidFill>
              <a:srgbClr val="9B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Reasoning mock-workload</a:t>
            </a:r>
            <a:br/>
            <a:r>
              <a:t>agent + behaviourAPI</a:t>
            </a:r>
            <a:br/>
            <a:r>
              <a:t>(running in Edge DC)</a:t>
            </a:r>
            <a:br/>
            <a:r>
              <a:t>Monitor local state</a:t>
            </a:r>
            <a:br/>
            <a:r>
              <a:t>Generate status + observations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95541" y="5356485"/>
            <a:ext cx="2878111" cy="1279161"/>
          </a:xfrm>
          <a:prstGeom prst="roundRect">
            <a:avLst/>
          </a:prstGeom>
          <a:solidFill>
            <a:srgbClr val="F8EBFF"/>
          </a:solidFill>
          <a:ln w="25400">
            <a:solidFill>
              <a:srgbClr val="9B6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Reasoning mock-inNet</a:t>
            </a:r>
            <a:br/>
            <a:r>
              <a:t>agent + behaviour API</a:t>
            </a:r>
            <a:br/>
            <a:r>
              <a:t>Generate status + observations for each slice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72866" y="6355829"/>
            <a:ext cx="2878111" cy="1279161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600">
                <a:solidFill>
                  <a:srgbClr val="141414"/>
                </a:solidFill>
              </a:defRPr>
            </a:pPr>
            <a:r>
              <a:t>GraphDB</a:t>
            </a:r>
            <a:br/>
            <a:r>
              <a:t>Intents and Reports</a:t>
            </a:r>
            <a:br/>
            <a:r>
              <a:t>(State and observations)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2804" y="1878767"/>
            <a:ext cx="575622" cy="0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22804" y="3038006"/>
            <a:ext cx="575622" cy="0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16905" y="1878767"/>
            <a:ext cx="639580" cy="0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716905" y="2238531"/>
            <a:ext cx="639580" cy="719528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1112708" y="1878767"/>
            <a:ext cx="639581" cy="0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157272" y="2638269"/>
            <a:ext cx="2638269" cy="3717560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34597" y="2638269"/>
            <a:ext cx="0" cy="2718216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73652" y="2638269"/>
            <a:ext cx="2638269" cy="3717560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96328" y="6995409"/>
            <a:ext cx="5276538" cy="0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73652" y="5996065"/>
            <a:ext cx="1199214" cy="719528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311921" y="2398426"/>
            <a:ext cx="559633" cy="3957403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716905" y="2638269"/>
            <a:ext cx="1598951" cy="1838793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15331" y="2638269"/>
            <a:ext cx="479685" cy="879423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8874177" y="2638269"/>
            <a:ext cx="479685" cy="879423"/>
          </a:xfrm>
          <a:prstGeom prst="line">
            <a:avLst/>
          </a:prstGeom>
          <a:ln w="31750">
            <a:solidFill>
              <a:srgbClr val="46464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11488462" y="3533681"/>
            <a:ext cx="566899" cy="607601"/>
          </a:xfrm>
          <a:custGeom>
            <a:avLst/>
            <a:gdLst/>
            <a:ahLst/>
            <a:cxnLst/>
            <a:rect l="l" t="t" r="r" b="b"/>
            <a:pathLst>
              <a:path w="566899" h="607601">
                <a:moveTo>
                  <a:pt x="552659" y="478054"/>
                </a:moveTo>
                <a:lnTo>
                  <a:pt x="536525" y="499080"/>
                </a:lnTo>
                <a:lnTo>
                  <a:pt x="518620" y="518620"/>
                </a:lnTo>
                <a:lnTo>
                  <a:pt x="499080" y="536526"/>
                </a:lnTo>
                <a:lnTo>
                  <a:pt x="478053" y="552660"/>
                </a:lnTo>
                <a:lnTo>
                  <a:pt x="455701" y="566900"/>
                </a:lnTo>
                <a:lnTo>
                  <a:pt x="432192" y="579138"/>
                </a:lnTo>
                <a:lnTo>
                  <a:pt x="407706" y="589280"/>
                </a:lnTo>
                <a:lnTo>
                  <a:pt x="382430" y="597250"/>
                </a:lnTo>
                <a:lnTo>
                  <a:pt x="356555" y="602986"/>
                </a:lnTo>
                <a:lnTo>
                  <a:pt x="330278" y="606445"/>
                </a:lnTo>
                <a:lnTo>
                  <a:pt x="303800" y="607601"/>
                </a:lnTo>
                <a:lnTo>
                  <a:pt x="277322" y="606445"/>
                </a:lnTo>
                <a:lnTo>
                  <a:pt x="251046" y="602986"/>
                </a:lnTo>
                <a:lnTo>
                  <a:pt x="225171" y="597250"/>
                </a:lnTo>
                <a:lnTo>
                  <a:pt x="199894" y="589280"/>
                </a:lnTo>
                <a:lnTo>
                  <a:pt x="175409" y="579138"/>
                </a:lnTo>
                <a:lnTo>
                  <a:pt x="151900" y="566900"/>
                </a:lnTo>
                <a:lnTo>
                  <a:pt x="129547" y="552660"/>
                </a:lnTo>
                <a:lnTo>
                  <a:pt x="108521" y="536526"/>
                </a:lnTo>
                <a:lnTo>
                  <a:pt x="88981" y="518620"/>
                </a:lnTo>
                <a:lnTo>
                  <a:pt x="71075" y="499080"/>
                </a:lnTo>
                <a:lnTo>
                  <a:pt x="54941" y="478054"/>
                </a:lnTo>
                <a:lnTo>
                  <a:pt x="40701" y="455701"/>
                </a:lnTo>
                <a:lnTo>
                  <a:pt x="28463" y="432192"/>
                </a:lnTo>
                <a:lnTo>
                  <a:pt x="18321" y="407707"/>
                </a:lnTo>
                <a:lnTo>
                  <a:pt x="10351" y="382430"/>
                </a:lnTo>
                <a:lnTo>
                  <a:pt x="4615" y="356555"/>
                </a:lnTo>
                <a:lnTo>
                  <a:pt x="1156" y="330279"/>
                </a:lnTo>
                <a:lnTo>
                  <a:pt x="0" y="303801"/>
                </a:lnTo>
                <a:lnTo>
                  <a:pt x="1156" y="277323"/>
                </a:lnTo>
                <a:lnTo>
                  <a:pt x="4615" y="251046"/>
                </a:lnTo>
                <a:lnTo>
                  <a:pt x="10351" y="225171"/>
                </a:lnTo>
                <a:lnTo>
                  <a:pt x="18321" y="199895"/>
                </a:lnTo>
                <a:lnTo>
                  <a:pt x="28463" y="175409"/>
                </a:lnTo>
                <a:lnTo>
                  <a:pt x="40701" y="151900"/>
                </a:lnTo>
                <a:lnTo>
                  <a:pt x="54941" y="129548"/>
                </a:lnTo>
                <a:lnTo>
                  <a:pt x="71075" y="108521"/>
                </a:lnTo>
                <a:lnTo>
                  <a:pt x="88981" y="88981"/>
                </a:lnTo>
                <a:lnTo>
                  <a:pt x="108521" y="71076"/>
                </a:lnTo>
                <a:lnTo>
                  <a:pt x="129547" y="54942"/>
                </a:lnTo>
                <a:lnTo>
                  <a:pt x="151900" y="40702"/>
                </a:lnTo>
                <a:lnTo>
                  <a:pt x="175409" y="28464"/>
                </a:lnTo>
                <a:lnTo>
                  <a:pt x="199894" y="18322"/>
                </a:lnTo>
                <a:lnTo>
                  <a:pt x="225171" y="10352"/>
                </a:lnTo>
                <a:lnTo>
                  <a:pt x="251046" y="4616"/>
                </a:lnTo>
                <a:lnTo>
                  <a:pt x="277322" y="1156"/>
                </a:lnTo>
                <a:lnTo>
                  <a:pt x="303800" y="0"/>
                </a:lnTo>
                <a:lnTo>
                  <a:pt x="330278" y="1156"/>
                </a:lnTo>
                <a:lnTo>
                  <a:pt x="356555" y="4616"/>
                </a:lnTo>
                <a:lnTo>
                  <a:pt x="382430" y="10352"/>
                </a:lnTo>
                <a:lnTo>
                  <a:pt x="407706" y="18322"/>
                </a:lnTo>
                <a:lnTo>
                  <a:pt x="432192" y="28464"/>
                </a:lnTo>
                <a:lnTo>
                  <a:pt x="455701" y="40702"/>
                </a:lnTo>
                <a:lnTo>
                  <a:pt x="478053" y="54942"/>
                </a:lnTo>
                <a:lnTo>
                  <a:pt x="499080" y="71076"/>
                </a:lnTo>
                <a:lnTo>
                  <a:pt x="518620" y="88981"/>
                </a:lnTo>
                <a:lnTo>
                  <a:pt x="536525" y="108521"/>
                </a:lnTo>
                <a:lnTo>
                  <a:pt x="552659" y="129548"/>
                </a:lnTo>
                <a:lnTo>
                  <a:pt x="566899" y="151900"/>
                </a:lnTo>
              </a:path>
            </a:pathLst>
          </a:custGeom>
          <a:noFill/>
          <a:ln w="317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1938618" y="3949520"/>
            <a:ext cx="146066" cy="165700"/>
          </a:xfrm>
          <a:custGeom>
            <a:avLst/>
            <a:gdLst/>
            <a:ahLst/>
            <a:cxnLst/>
            <a:rect l="l" t="t" r="r" b="b"/>
            <a:pathLst>
              <a:path w="146066" h="165700">
                <a:moveTo>
                  <a:pt x="146066" y="0"/>
                </a:moveTo>
                <a:lnTo>
                  <a:pt x="117880" y="165700"/>
                </a:lnTo>
                <a:lnTo>
                  <a:pt x="0" y="83159"/>
                </a:lnTo>
                <a:close/>
              </a:path>
            </a:pathLst>
          </a:cu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9790" y="7914806"/>
            <a:ext cx="13990820" cy="9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464646"/>
                </a:solidFill>
              </a:defRPr>
            </a:pPr>
            <a:r>
              <a:t>LLM-based reasoning is concentrated in the orchestration layer and, if desired, in deployment/network fulfillment agents. Shared services keep runtime state and publish TM Forum-compliant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