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813BB-A875-4916-8606-96633651CF8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6575" y="6657340"/>
            <a:ext cx="9906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 dirty="0">
                <a:solidFill>
                  <a:srgbClr val="A6A6A6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91840"/>
            <a:ext cx="11430000" cy="12700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0" y="54864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0" dirty="0">
                <a:solidFill>
                  <a:srgbClr val="00B050"/>
                </a:solidFill>
                <a:latin typeface="Calibri"/>
              </a:rPr>
              <a:t>O</a:t>
            </a:r>
            <a:r>
              <a:rPr sz="1100" b="0" dirty="0">
                <a:solidFill>
                  <a:srgbClr val="00B050"/>
                </a:solidFill>
                <a:latin typeface="Calibri"/>
              </a:rPr>
              <a:t>bs</a:t>
            </a:r>
            <a:r>
              <a:rPr lang="nb-NO" sz="1100" b="0" dirty="0">
                <a:solidFill>
                  <a:srgbClr val="00B050"/>
                </a:solidFill>
                <a:latin typeface="Calibri"/>
              </a:rPr>
              <a:t>ervations</a:t>
            </a:r>
            <a:r>
              <a:rPr lang="nb-NO" sz="1100" dirty="0">
                <a:solidFill>
                  <a:srgbClr val="00B050"/>
                </a:solidFill>
                <a:latin typeface="Calibri"/>
              </a:rPr>
              <a:t> </a:t>
            </a:r>
            <a:r>
              <a:rPr sz="1100" b="0" dirty="0">
                <a:solidFill>
                  <a:srgbClr val="00B050"/>
                </a:solidFill>
                <a:latin typeface="Calibri"/>
              </a:rPr>
              <a:t>gen</a:t>
            </a:r>
            <a:r>
              <a:rPr lang="nb-NO" sz="1100" b="0" dirty="0">
                <a:solidFill>
                  <a:srgbClr val="00B050"/>
                </a:solidFill>
                <a:latin typeface="Calibri"/>
              </a:rPr>
              <a:t>erating </a:t>
            </a:r>
            <a:r>
              <a:rPr sz="1100" b="0" dirty="0">
                <a:solidFill>
                  <a:srgbClr val="00B050"/>
                </a:solidFill>
                <a:latin typeface="Calibri"/>
              </a:rPr>
              <a:t>agent</a:t>
            </a:r>
            <a:endParaRPr lang="nb-NO" sz="1100" b="0" dirty="0">
              <a:solidFill>
                <a:srgbClr val="00B050"/>
              </a:solidFill>
              <a:latin typeface="Calibri"/>
            </a:endParaRPr>
          </a:p>
          <a:p>
            <a:pPr algn="ctr"/>
            <a:r>
              <a:rPr lang="en-US" sz="1100" dirty="0">
                <a:solidFill>
                  <a:srgbClr val="00B050"/>
                </a:solidFill>
                <a:latin typeface="Calibri"/>
              </a:rPr>
              <a:t>(Static today</a:t>
            </a:r>
            <a:r>
              <a:rPr lang="en-US" sz="110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needs to be dynamic</a:t>
            </a:r>
            <a:r>
              <a:rPr lang="en-US" sz="1100" dirty="0">
                <a:solidFill>
                  <a:srgbClr val="000000"/>
                </a:solidFill>
                <a:latin typeface="Calibri"/>
              </a:rPr>
              <a:t>)</a:t>
            </a:r>
            <a:endParaRPr sz="11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0" y="365760"/>
            <a:ext cx="21031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00B050"/>
                </a:solidFill>
                <a:latin typeface="Calibri"/>
              </a:rPr>
              <a:t>C</a:t>
            </a:r>
            <a:r>
              <a:rPr lang="nb-NO" sz="1100" b="0" dirty="0">
                <a:solidFill>
                  <a:srgbClr val="00B050"/>
                </a:solidFill>
                <a:latin typeface="Calibri"/>
              </a:rPr>
              <a:t>ontroller Studio</a:t>
            </a:r>
            <a:endParaRPr sz="1100" b="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94986" y="1699024"/>
            <a:ext cx="24688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00B050"/>
                </a:solidFill>
                <a:latin typeface="Calibri"/>
              </a:rPr>
              <a:t>Prometheus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06240"/>
            <a:ext cx="2560320" cy="128016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external factors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931920"/>
            <a:ext cx="5169550" cy="13462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RL-Gym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858000" y="914400"/>
            <a:ext cx="2286000" cy="320040"/>
          </a:xfrm>
          <a:prstGeom prst="curvedConnector3">
            <a:avLst/>
          </a:prstGeom>
          <a:ln w="19050">
            <a:solidFill>
              <a:srgbClr val="00B0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286000" y="1234440"/>
            <a:ext cx="1828800" cy="2971800"/>
          </a:xfrm>
          <a:prstGeom prst="curvedConnector3">
            <a:avLst>
              <a:gd name="adj1" fmla="val 25581"/>
            </a:avLst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31520" y="1005840"/>
            <a:ext cx="3383280" cy="3200400"/>
          </a:xfrm>
          <a:prstGeom prst="curvedConnector3">
            <a:avLst>
              <a:gd name="adj1" fmla="val 19830"/>
            </a:avLst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5" idx="1"/>
          </p:cNvCxnSpPr>
          <p:nvPr/>
        </p:nvCxnSpPr>
        <p:spPr>
          <a:xfrm>
            <a:off x="5943600" y="1920240"/>
            <a:ext cx="2851386" cy="327424"/>
          </a:xfrm>
          <a:prstGeom prst="curvedConnector3">
            <a:avLst/>
          </a:prstGeom>
          <a:ln w="19050">
            <a:solidFill>
              <a:srgbClr val="00B0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 flipH="1">
            <a:off x="9250326" y="3291840"/>
            <a:ext cx="411480" cy="64008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212080" y="1920240"/>
            <a:ext cx="1234440" cy="2011680"/>
          </a:xfrm>
          <a:prstGeom prst="curvedConnector3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389120" y="1920240"/>
            <a:ext cx="640080" cy="2926080"/>
          </a:xfrm>
          <a:prstGeom prst="curvedConnector3">
            <a:avLst>
              <a:gd name="adj1" fmla="val 148007"/>
            </a:avLst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524664"/>
            <a:ext cx="1645920" cy="2308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 dirty="0">
                <a:solidFill>
                  <a:srgbClr val="00B050"/>
                </a:solidFill>
                <a:latin typeface="Calibri"/>
              </a:rPr>
              <a:t>natural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8260" y="1956703"/>
            <a:ext cx="1463040" cy="3385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other external</a:t>
            </a:r>
          </a:p>
          <a:p>
            <a:pPr algn="ctr"/>
            <a:r>
              <a:rPr sz="8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(e.g. noise)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772638"/>
            <a:ext cx="1645920" cy="2154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resource 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6562" y="1756648"/>
            <a:ext cx="1097280" cy="3693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nb-NO" sz="900" b="0" dirty="0">
                <a:solidFill>
                  <a:srgbClr val="00B050"/>
                </a:solidFill>
                <a:latin typeface="Calibri"/>
              </a:rPr>
              <a:t>Predeterministic </a:t>
            </a:r>
            <a:r>
              <a:rPr sz="900" b="0" dirty="0">
                <a:solidFill>
                  <a:srgbClr val="00B050"/>
                </a:solidFill>
                <a:latin typeface="Calibri"/>
              </a:rPr>
              <a:t>metric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4520" y="2490624"/>
            <a:ext cx="822960" cy="2308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7384" y="2668188"/>
            <a:ext cx="731520" cy="2308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reward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7CAE01-F5C6-7203-F511-F73FE314B91F}"/>
              </a:ext>
            </a:extLst>
          </p:cNvPr>
          <p:cNvSpPr txBox="1"/>
          <p:nvPr/>
        </p:nvSpPr>
        <p:spPr>
          <a:xfrm>
            <a:off x="8838846" y="2869286"/>
            <a:ext cx="822960" cy="3693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nb-NO" sz="900" b="0" dirty="0">
                <a:solidFill>
                  <a:srgbClr val="00B050"/>
                </a:solidFill>
                <a:latin typeface="Calibri"/>
              </a:rPr>
              <a:t>Observations (PromQL)</a:t>
            </a:r>
            <a:endParaRPr sz="900" b="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C3C78D-8044-35EE-6C3F-9FFA80B69CD7}"/>
              </a:ext>
            </a:extLst>
          </p:cNvPr>
          <p:cNvSpPr txBox="1"/>
          <p:nvPr/>
        </p:nvSpPr>
        <p:spPr>
          <a:xfrm>
            <a:off x="0" y="203232"/>
            <a:ext cx="793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Today: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BCDE27-343E-0ABA-D4CC-5E63E89DC852}"/>
              </a:ext>
            </a:extLst>
          </p:cNvPr>
          <p:cNvSpPr txBox="1"/>
          <p:nvPr/>
        </p:nvSpPr>
        <p:spPr>
          <a:xfrm>
            <a:off x="32505" y="3376900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Needed: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BCD146-98C5-D6D0-67A4-C21BC13B747B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9661806" y="2796304"/>
            <a:ext cx="367620" cy="495536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28C2E8C-B8D4-1487-A69F-E7CF4FFBFCBB}"/>
              </a:ext>
            </a:extLst>
          </p:cNvPr>
          <p:cNvSpPr txBox="1"/>
          <p:nvPr/>
        </p:nvSpPr>
        <p:spPr>
          <a:xfrm>
            <a:off x="841771" y="5852160"/>
            <a:ext cx="68257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Green: exists today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Blue: new functionality</a:t>
            </a:r>
            <a:br>
              <a:rPr lang="en-US" dirty="0"/>
            </a:br>
            <a:r>
              <a:rPr lang="en-US" dirty="0"/>
              <a:t>Conclusion: the observation generating agent needs to be redesigned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41E0AC-5540-8F4A-1537-CFE895100E5D}"/>
              </a:ext>
            </a:extLst>
          </p:cNvPr>
          <p:cNvSpPr txBox="1"/>
          <p:nvPr/>
        </p:nvSpPr>
        <p:spPr>
          <a:xfrm>
            <a:off x="7589520" y="2262567"/>
            <a:ext cx="1097280" cy="3693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nb-NO" sz="9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Dynamic </a:t>
            </a:r>
            <a:r>
              <a:rPr sz="9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metric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Arne Munch-Ellingsen</cp:lastModifiedBy>
  <cp:revision>3</cp:revision>
  <dcterms:created xsi:type="dcterms:W3CDTF">2013-01-27T09:14:16Z</dcterms:created>
  <dcterms:modified xsi:type="dcterms:W3CDTF">2026-07-09T10:09:12Z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Sensitivity: Internal</vt:lpwstr>
  </property>
</Properties>
</file>